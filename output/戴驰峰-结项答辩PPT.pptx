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8"/>
        <p:guide pos="28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016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635508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2355B"/>
                </a:solidFill>
                <a:latin typeface="Arial" panose="020B0604020202020204"/>
              </a:rPr>
              <a:t>基于区块链的可信任务日志审计系统</a:t>
            </a:r>
            <a:endParaRPr sz="31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29260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E76F51"/>
                </a:solidFill>
                <a:latin typeface="Arial" panose="020B0604020202020204"/>
              </a:rPr>
              <a:t>设计与实现</a:t>
            </a:r>
            <a:endParaRPr sz="31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E6C7A"/>
                </a:solidFill>
                <a:latin typeface="Arial" panose="020B0604020202020204"/>
              </a:rPr>
              <a:t>结项答辩 / 5分钟汇报</a:t>
            </a:r>
            <a:endParaRPr sz="11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2788920"/>
            <a:ext cx="50749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0088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7C80"/>
                </a:solidFill>
                <a:latin typeface="Arial" panose="020B0604020202020204"/>
              </a:rPr>
              <a:t>研究目标</a:t>
            </a:r>
            <a:endParaRPr sz="10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4389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rial" panose="020B0604020202020204"/>
              </a:rPr>
              <a:t>构建采集、存证、审计、告警、展示一体化的可信任务日志审计原型系统</a:t>
            </a:r>
            <a:endParaRPr sz="1600" b="1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080760"/>
            <a:ext cx="5943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5E6C7A"/>
                </a:solidFill>
                <a:latin typeface="Arial" panose="020B0604020202020204"/>
              </a:rPr>
              <a:t>学生：戴驰峰    课题方向：区块链存证 / 日志审计 / 智能合约</a:t>
            </a:r>
            <a:endParaRPr sz="102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20840" y="566928"/>
            <a:ext cx="4800600" cy="5349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-5-1-system-frontend-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1985676"/>
            <a:ext cx="4416552" cy="24843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912864" y="768096"/>
            <a:ext cx="4416552" cy="4919472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中心化日志审计的可信性问题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日志能保存，不代表日志可被独立验证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02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76F51"/>
                </a:solidFill>
                <a:latin typeface="Arial" panose="020B0604020202020204"/>
              </a:rPr>
              <a:t>关键问题</a:t>
            </a:r>
            <a:endParaRPr sz="10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8006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2355B"/>
                </a:solidFill>
                <a:latin typeface="Arial" panose="020B0604020202020204"/>
              </a:rPr>
              <a:t>事后如何证明日志内容是否与存证时一致？</a:t>
            </a:r>
            <a:endParaRPr sz="26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58368" y="2542032"/>
            <a:ext cx="4983480" cy="768096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896112" y="2670048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rial" panose="020B0604020202020204"/>
              </a:rPr>
              <a:t>存储集中</a:t>
            </a:r>
            <a:endParaRPr sz="120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847088" y="2660903"/>
            <a:ext cx="3429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7212B"/>
                </a:solidFill>
                <a:latin typeface="Arial" panose="020B0604020202020204"/>
              </a:rPr>
              <a:t>日志原文与审计依据常在同一数据库或文件系统中</a:t>
            </a:r>
            <a:endParaRPr sz="120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658368" y="3566160"/>
            <a:ext cx="4983480" cy="768096"/>
          </a:xfrm>
          <a:prstGeom prst="roundRect">
            <a:avLst/>
          </a:prstGeom>
          <a:solidFill>
            <a:srgbClr val="FDEDEC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896112" y="3694176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413E"/>
                </a:solidFill>
                <a:latin typeface="Arial" panose="020B0604020202020204"/>
              </a:rPr>
              <a:t>易被修改</a:t>
            </a:r>
            <a:endParaRPr sz="1200" b="1">
              <a:solidFill>
                <a:srgbClr val="C9413E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847088" y="3685032"/>
            <a:ext cx="3429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7212B"/>
                </a:solidFill>
                <a:latin typeface="Arial" panose="020B0604020202020204"/>
              </a:rPr>
              <a:t>数据库被攻击或高权限人员误用时，日志可能被修改、删除或伪造</a:t>
            </a:r>
            <a:endParaRPr sz="120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658368" y="4590288"/>
            <a:ext cx="4983480" cy="768096"/>
          </a:xfrm>
          <a:prstGeom prst="roundRect">
            <a:avLst/>
          </a:prstGeom>
          <a:solidFill>
            <a:srgbClr val="FFF1E8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896112" y="4718303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76F51"/>
                </a:solidFill>
                <a:latin typeface="Arial" panose="020B0604020202020204"/>
              </a:rPr>
              <a:t>缺少证明</a:t>
            </a:r>
            <a:endParaRPr sz="12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1847088" y="4709159"/>
            <a:ext cx="3429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7212B"/>
                </a:solidFill>
                <a:latin typeface="Arial" panose="020B0604020202020204"/>
              </a:rPr>
              <a:t>仅依赖数据库自身，难以提供独立可信的完整性证据</a:t>
            </a:r>
            <a:endParaRPr sz="120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3056" y="1207008"/>
            <a:ext cx="5413248" cy="4535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-2-2-hash-integrity-verific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707" y="1517904"/>
            <a:ext cx="4876800" cy="274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19088" y="1517904"/>
            <a:ext cx="4892040" cy="2743200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35424"/>
            <a:ext cx="8686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7C80"/>
                </a:solidFill>
                <a:latin typeface="Arial" panose="020B0604020202020204"/>
              </a:rPr>
              <a:t>解决思路</a:t>
            </a:r>
            <a:endParaRPr sz="10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4809744"/>
            <a:ext cx="4526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rial" panose="020B0604020202020204"/>
              </a:rPr>
              <a:t>链下保存日志原文，链上保存哈希摘要，让日志完整性具备可验证依据。</a:t>
            </a:r>
            <a:endParaRPr sz="1400" b="1">
              <a:solidFill>
                <a:srgbClr val="17212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链下原文 + 链上哈希的混合存证方案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兼顾查询效率、隐私保护、存储成本与审计可信性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03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25296"/>
            <a:ext cx="6492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-3-1-chain-offchain-hybrid-storage-mod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407" y="1463040"/>
            <a:ext cx="60147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" y="1463040"/>
            <a:ext cx="6016752" cy="3383280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5102352"/>
            <a:ext cx="941832" cy="4572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257800"/>
            <a:ext cx="795528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12355B"/>
                </a:solidFill>
                <a:latin typeface="Arial" panose="020B0604020202020204"/>
              </a:rPr>
              <a:t>日志文件</a:t>
            </a:r>
            <a:endParaRPr sz="8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1920240" y="5248656"/>
            <a:ext cx="310896" cy="164592"/>
          </a:xfrm>
          <a:prstGeom prst="rightArrow">
            <a:avLst/>
          </a:prstGeom>
          <a:solidFill>
            <a:srgbClr val="AAB6C4"/>
          </a:solidFill>
          <a:ln w="12700">
            <a:solidFill>
              <a:srgbClr val="AAB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31720" y="5102352"/>
            <a:ext cx="841248" cy="457200"/>
          </a:xfrm>
          <a:prstGeom prst="roundRect">
            <a:avLst/>
          </a:prstGeom>
          <a:solidFill>
            <a:srgbClr val="EAF7F3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5257800"/>
            <a:ext cx="694944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167C80"/>
                </a:solidFill>
                <a:latin typeface="Arial" panose="020B0604020202020204"/>
              </a:rPr>
              <a:t>Agent</a:t>
            </a:r>
            <a:endParaRPr sz="85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310128" y="5248656"/>
            <a:ext cx="310896" cy="164592"/>
          </a:xfrm>
          <a:prstGeom prst="rightArrow">
            <a:avLst/>
          </a:prstGeom>
          <a:solidFill>
            <a:srgbClr val="AAB6C4"/>
          </a:solidFill>
          <a:ln w="12700">
            <a:solidFill>
              <a:srgbClr val="AAB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94176" y="5102352"/>
            <a:ext cx="896112" cy="457200"/>
          </a:xfrm>
          <a:prstGeom prst="roundRect">
            <a:avLst/>
          </a:prstGeom>
          <a:solidFill>
            <a:srgbClr val="FFF1E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5257800"/>
            <a:ext cx="749808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E76F51"/>
                </a:solidFill>
                <a:latin typeface="Arial" panose="020B0604020202020204"/>
              </a:rPr>
              <a:t>Server</a:t>
            </a:r>
            <a:endParaRPr sz="85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4736592" y="5248656"/>
            <a:ext cx="310896" cy="164592"/>
          </a:xfrm>
          <a:prstGeom prst="rightArrow">
            <a:avLst/>
          </a:prstGeom>
          <a:solidFill>
            <a:srgbClr val="AAB6C4"/>
          </a:solidFill>
          <a:ln w="12700">
            <a:solidFill>
              <a:srgbClr val="AAB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2" y="5102352"/>
            <a:ext cx="1600200" cy="457200"/>
          </a:xfrm>
          <a:prstGeom prst="roundRect">
            <a:avLst/>
          </a:prstGeom>
          <a:solidFill>
            <a:srgbClr val="F0F3F7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5257800"/>
            <a:ext cx="1453896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12355B"/>
                </a:solidFill>
                <a:latin typeface="Arial" panose="020B0604020202020204"/>
              </a:rPr>
              <a:t>SQLite + LogRegistry</a:t>
            </a:r>
            <a:endParaRPr sz="8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07808" y="1325880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7C80"/>
                </a:solidFill>
                <a:latin typeface="Arial" panose="020B0604020202020204"/>
              </a:rPr>
              <a:t>方案要点</a:t>
            </a:r>
            <a:endParaRPr sz="10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07808" y="1737360"/>
            <a:ext cx="3703320" cy="2971800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链下 SQLite 保存日志原文、任务编号、来源路径和采集时间</a:t>
            </a:r>
          </a:p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Server 对日志正文计算 SHA-256 哈希</a:t>
            </a:r>
          </a:p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LogRegistry 合约保存 taskId、logHash、createdAt、submitter</a:t>
            </a:r>
          </a:p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审计时重算哈希，并与链下记录和链上记录比对</a:t>
            </a:r>
          </a:p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异常时写入审计记录并生成 hash_mismatch 告警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5084064"/>
            <a:ext cx="1417320" cy="310896"/>
          </a:xfrm>
          <a:prstGeom prst="roundRect">
            <a:avLst/>
          </a:prstGeom>
          <a:solidFill>
            <a:srgbClr val="C9413E"/>
          </a:solidFill>
          <a:ln w="12700">
            <a:solidFill>
              <a:srgbClr val="C9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5157216"/>
            <a:ext cx="127101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Arial" panose="020B0604020202020204"/>
              </a:rPr>
              <a:t>不直接上链原文</a:t>
            </a:r>
            <a:endParaRPr sz="82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62288" y="5084064"/>
            <a:ext cx="1536192" cy="310896"/>
          </a:xfrm>
          <a:prstGeom prst="roundRect">
            <a:avLst/>
          </a:prstGeom>
          <a:solidFill>
            <a:srgbClr val="167C80"/>
          </a:solidFill>
          <a:ln w="12700">
            <a:solidFill>
              <a:srgbClr val="16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5157216"/>
            <a:ext cx="13898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Arial" panose="020B0604020202020204"/>
              </a:rPr>
              <a:t>只上链哈希证据</a:t>
            </a:r>
            <a:endParaRPr sz="820" b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三方哈希比对审计机制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expectedHash、actualHash、onChainHash 共同给出审计结论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04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61872"/>
            <a:ext cx="1783080" cy="1115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63040"/>
            <a:ext cx="15179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D6CDF"/>
                </a:solidFill>
                <a:latin typeface="Arial" panose="020B0604020202020204"/>
              </a:rPr>
              <a:t>expectedHash</a:t>
            </a:r>
            <a:endParaRPr sz="120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6" y="1755648"/>
            <a:ext cx="14630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0" b="0">
                <a:solidFill>
                  <a:srgbClr val="5E6C7A"/>
                </a:solidFill>
                <a:latin typeface="Arial" panose="020B0604020202020204"/>
              </a:rPr>
              <a:t>提交阶段保存在 log_hash_records 中的日志哈希</a:t>
            </a:r>
            <a:endParaRPr sz="86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51760" y="1261872"/>
            <a:ext cx="1783080" cy="1115568"/>
          </a:xfrm>
          <a:prstGeom prst="roundRect">
            <a:avLst/>
          </a:prstGeom>
          <a:solidFill>
            <a:srgbClr val="EAF7F3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463040"/>
            <a:ext cx="15179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67C80"/>
                </a:solidFill>
                <a:latin typeface="Arial" panose="020B0604020202020204"/>
              </a:rPr>
              <a:t>actualHash</a:t>
            </a:r>
            <a:endParaRPr sz="12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07208" y="1755648"/>
            <a:ext cx="14630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0" b="0">
                <a:solidFill>
                  <a:srgbClr val="5E6C7A"/>
                </a:solidFill>
                <a:latin typeface="Arial" panose="020B0604020202020204"/>
              </a:rPr>
              <a:t>审计阶段对当前日志原文重新计算得到的哈希</a:t>
            </a:r>
            <a:endParaRPr sz="86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45152" y="1261872"/>
            <a:ext cx="1783080" cy="1115568"/>
          </a:xfrm>
          <a:prstGeom prst="roundRect">
            <a:avLst/>
          </a:prstGeom>
          <a:solidFill>
            <a:srgbClr val="FFF1E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463040"/>
            <a:ext cx="151790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76F51"/>
                </a:solidFill>
                <a:latin typeface="Arial" panose="020B0604020202020204"/>
              </a:rPr>
              <a:t>onChainHash</a:t>
            </a:r>
            <a:endParaRPr sz="12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1755648"/>
            <a:ext cx="14630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0" b="0">
                <a:solidFill>
                  <a:srgbClr val="5E6C7A"/>
                </a:solidFill>
                <a:latin typeface="Arial" panose="020B0604020202020204"/>
              </a:rPr>
              <a:t>从 LogRegistry 合约读取的链上哈希摘要</a:t>
            </a:r>
            <a:endParaRPr sz="86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2724912"/>
            <a:ext cx="5742432" cy="2395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99232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rial" panose="020B0604020202020204"/>
              </a:rPr>
              <a:t>三者一致</a:t>
            </a:r>
            <a:endParaRPr sz="1150" b="1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29968" y="2926079"/>
            <a:ext cx="786384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2999232"/>
            <a:ext cx="6400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Arial" panose="020B0604020202020204"/>
              </a:rPr>
              <a:t>passed</a:t>
            </a:r>
            <a:endParaRPr sz="82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99232" y="2999232"/>
            <a:ext cx="2971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E6C7A"/>
                </a:solidFill>
                <a:latin typeface="Arial" panose="020B0604020202020204"/>
              </a:rPr>
              <a:t>日志内容与存证时一致，审计通过</a:t>
            </a:r>
            <a:endParaRPr sz="11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3621024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rial" panose="020B0604020202020204"/>
              </a:rPr>
              <a:t>哈希不一致</a:t>
            </a:r>
            <a:endParaRPr sz="1150" b="1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029968" y="3547872"/>
            <a:ext cx="786384" cy="310896"/>
          </a:xfrm>
          <a:prstGeom prst="roundRect">
            <a:avLst/>
          </a:prstGeom>
          <a:solidFill>
            <a:srgbClr val="C9413E"/>
          </a:solidFill>
          <a:ln w="12700">
            <a:solidFill>
              <a:srgbClr val="C9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3621024"/>
            <a:ext cx="6400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Arial" panose="020B0604020202020204"/>
              </a:rPr>
              <a:t>failed</a:t>
            </a:r>
            <a:endParaRPr sz="82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99232" y="3621024"/>
            <a:ext cx="2971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E6C7A"/>
                </a:solidFill>
                <a:latin typeface="Arial" panose="020B0604020202020204"/>
              </a:rPr>
              <a:t>判定为异常，并生成 hash_mismatch 告警</a:t>
            </a:r>
            <a:endParaRPr sz="11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24281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rial" panose="020B0604020202020204"/>
              </a:rPr>
              <a:t>链上记录缺失</a:t>
            </a:r>
            <a:endParaRPr sz="1150" b="1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029968" y="4169663"/>
            <a:ext cx="786384" cy="310896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242816"/>
            <a:ext cx="6400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Arial" panose="020B0604020202020204"/>
              </a:rPr>
              <a:t>pending</a:t>
            </a:r>
            <a:endParaRPr sz="82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99232" y="4242816"/>
            <a:ext cx="2971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E6C7A"/>
                </a:solidFill>
                <a:latin typeface="Arial" panose="020B0604020202020204"/>
              </a:rPr>
              <a:t>记录为待审计，避免误判为通过</a:t>
            </a:r>
            <a:endParaRPr sz="11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720840" y="1225296"/>
            <a:ext cx="48006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-3-3-three-party-hash-comparison-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2235136"/>
            <a:ext cx="4407408" cy="247916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922008" y="1481328"/>
            <a:ext cx="4407408" cy="3986784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系统架构与模块实现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Agent、Server、SQLite、LogRegistry、Web 协同形成可信审计闭环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05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152144"/>
            <a:ext cx="67208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.1系统总体架构图-去标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0402"/>
            <a:ext cx="6263640" cy="35251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1389888"/>
            <a:ext cx="6263640" cy="3886200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99248" y="1216152"/>
            <a:ext cx="35661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136245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D6CDF"/>
                </a:solidFill>
                <a:latin typeface="Arial" panose="020B0604020202020204"/>
              </a:rPr>
              <a:t>Agent</a:t>
            </a:r>
            <a:endParaRPr sz="110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1392" y="1353312"/>
            <a:ext cx="2148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E6C7A"/>
                </a:solidFill>
                <a:latin typeface="Arial" panose="020B0604020202020204"/>
              </a:rPr>
              <a:t>增量读取、偏移量持久化、失败重试</a:t>
            </a:r>
            <a:endParaRPr sz="94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99248" y="2057400"/>
            <a:ext cx="35661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2" y="2203704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7C80"/>
                </a:solidFill>
                <a:latin typeface="Arial" panose="020B0604020202020204"/>
              </a:rPr>
              <a:t>Server</a:t>
            </a:r>
            <a:endParaRPr sz="11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51392" y="2194560"/>
            <a:ext cx="2148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E6C7A"/>
                </a:solidFill>
                <a:latin typeface="Arial" panose="020B0604020202020204"/>
              </a:rPr>
              <a:t>日志入库、哈希计算、合约调用、审计告警</a:t>
            </a:r>
            <a:endParaRPr sz="94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99248" y="2898648"/>
            <a:ext cx="35661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3044952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Arial" panose="020B0604020202020204"/>
              </a:rPr>
              <a:t>SQLite</a:t>
            </a:r>
            <a:endParaRPr sz="11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51392" y="3035808"/>
            <a:ext cx="2148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E6C7A"/>
                </a:solidFill>
                <a:latin typeface="Arial" panose="020B0604020202020204"/>
              </a:rPr>
              <a:t>日志、存证记录、审计记录、告警、Agent状态</a:t>
            </a:r>
            <a:endParaRPr sz="94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99248" y="3739896"/>
            <a:ext cx="35661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3886200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413E"/>
                </a:solidFill>
                <a:latin typeface="Arial" panose="020B0604020202020204"/>
              </a:rPr>
              <a:t>LogRegistry</a:t>
            </a:r>
            <a:endParaRPr sz="1100" b="1">
              <a:solidFill>
                <a:srgbClr val="C9413E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51392" y="3877056"/>
            <a:ext cx="2148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E6C7A"/>
                </a:solidFill>
                <a:latin typeface="Arial" panose="020B0604020202020204"/>
              </a:rPr>
              <a:t>链上哈希存证，AccessControl 控制写入权限</a:t>
            </a:r>
            <a:endParaRPr sz="94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99248" y="4581144"/>
            <a:ext cx="35661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2" y="4727448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55B"/>
                </a:solidFill>
                <a:latin typeface="Arial" panose="020B0604020202020204"/>
              </a:rPr>
              <a:t>Web</a:t>
            </a:r>
            <a:endParaRPr sz="11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51392" y="4718304"/>
            <a:ext cx="21488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E6C7A"/>
                </a:solidFill>
                <a:latin typeface="Arial" panose="020B0604020202020204"/>
              </a:rPr>
              <a:t>总览、日志中心、审计管理、异常告警展示</a:t>
            </a:r>
            <a:endParaRPr sz="94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54112" y="5541264"/>
            <a:ext cx="82296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0" b="1">
                <a:solidFill>
                  <a:srgbClr val="167C80"/>
                </a:solidFill>
                <a:latin typeface="Arial" panose="020B0604020202020204"/>
              </a:rPr>
              <a:t>核心接口</a:t>
            </a:r>
            <a:endParaRPr sz="87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30768" y="5541264"/>
            <a:ext cx="29260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POST /api/logs    POST /api/audits/run    GET /api/alerts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_dashboard_with_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0"/>
            <a:ext cx="414622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438912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 panose="020B0604020202020204"/>
              </a:rPr>
              <a:t>系统运行演示</a:t>
            </a:r>
            <a:endParaRPr sz="3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3749039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6E3F3"/>
                </a:solidFill>
                <a:latin typeface="Arial" panose="020B0604020202020204"/>
              </a:rPr>
              <a:t>建议在此页插入约 1 分钟演示视频</a:t>
            </a:r>
            <a:endParaRPr sz="1200" b="0">
              <a:solidFill>
                <a:srgbClr val="D6E3F3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749808" y="2157984"/>
            <a:ext cx="41148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87552" y="2304288"/>
            <a:ext cx="34747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355B"/>
                </a:solidFill>
                <a:latin typeface="Arial" panose="020B0604020202020204"/>
              </a:rPr>
              <a:t>1. 日志生成与上链存证</a:t>
            </a:r>
            <a:endParaRPr sz="12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749808" y="2871215"/>
            <a:ext cx="41148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987552" y="3017520"/>
            <a:ext cx="34747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355B"/>
                </a:solidFill>
                <a:latin typeface="Arial" panose="020B0604020202020204"/>
              </a:rPr>
              <a:t>2. 批量审计与状态展示</a:t>
            </a:r>
            <a:endParaRPr sz="12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749808" y="3584448"/>
            <a:ext cx="41148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987552" y="3730752"/>
            <a:ext cx="34747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355B"/>
                </a:solidFill>
                <a:latin typeface="Arial" panose="020B0604020202020204"/>
              </a:rPr>
              <a:t>3. 篡改检测与告警生成</a:t>
            </a:r>
            <a:endParaRPr sz="12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12" name="Isosceles Triangle 11"/>
          <p:cNvSpPr/>
          <p:nvPr/>
        </p:nvSpPr>
        <p:spPr>
          <a:xfrm rot="5400000">
            <a:off x="5285232" y="2907792"/>
            <a:ext cx="658368" cy="658368"/>
          </a:xfrm>
          <a:prstGeom prst="triangl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703320"/>
            <a:ext cx="17830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播放视频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功能验证与实验结果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验证系统可运行性、稳定性与篡改检测能力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07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161288"/>
            <a:ext cx="16916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271016"/>
            <a:ext cx="147218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  <a:latin typeface="Arial" panose="020B0604020202020204"/>
              </a:rPr>
              <a:t>100%</a:t>
            </a:r>
            <a:endParaRPr sz="1800" b="1">
              <a:solidFill>
                <a:srgbClr val="2A9D8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1591056"/>
            <a:ext cx="154533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5E6C7A"/>
                </a:solidFill>
                <a:latin typeface="Arial" panose="020B0604020202020204"/>
              </a:rPr>
              <a:t>100条日志提交成功率</a:t>
            </a:r>
            <a:endParaRPr sz="77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0" y="1161288"/>
            <a:ext cx="16916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271016"/>
            <a:ext cx="147218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D6CDF"/>
                </a:solidFill>
                <a:latin typeface="Arial" panose="020B0604020202020204"/>
              </a:rPr>
              <a:t>107.03 ms</a:t>
            </a:r>
            <a:endParaRPr sz="180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3472" y="1591056"/>
            <a:ext cx="154533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5E6C7A"/>
                </a:solidFill>
                <a:latin typeface="Arial" panose="020B0604020202020204"/>
              </a:rPr>
              <a:t>平均响应时间</a:t>
            </a:r>
            <a:endParaRPr sz="77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25696" y="1161288"/>
            <a:ext cx="16916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271016"/>
            <a:ext cx="147218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E76F51"/>
                </a:solidFill>
                <a:latin typeface="Arial" panose="020B0604020202020204"/>
              </a:rPr>
              <a:t>9.33 条/秒</a:t>
            </a:r>
            <a:endParaRPr sz="180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98848" y="1591056"/>
            <a:ext cx="154533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5E6C7A"/>
                </a:solidFill>
                <a:latin typeface="Arial" panose="020B0604020202020204"/>
              </a:rPr>
              <a:t>吞吐量</a:t>
            </a:r>
            <a:endParaRPr sz="77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91072" y="1161288"/>
            <a:ext cx="16916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71016"/>
            <a:ext cx="147218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67C80"/>
                </a:solidFill>
                <a:latin typeface="Arial" panose="020B0604020202020204"/>
              </a:rPr>
              <a:t>8项</a:t>
            </a:r>
            <a:endParaRPr sz="18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64224" y="1591056"/>
            <a:ext cx="154533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5E6C7A"/>
                </a:solidFill>
                <a:latin typeface="Arial" panose="020B0604020202020204"/>
              </a:rPr>
              <a:t>合约测试全部通过</a:t>
            </a:r>
            <a:endParaRPr sz="77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4944" y="2139696"/>
            <a:ext cx="4681728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395728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7C80"/>
                </a:solidFill>
                <a:latin typeface="Arial" panose="020B0604020202020204"/>
              </a:rPr>
              <a:t>实验结论</a:t>
            </a:r>
            <a:endParaRPr sz="110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" y="2743200"/>
            <a:ext cx="4187952" cy="2066543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spcAft>
                <a:spcPts val="800"/>
              </a:spcAft>
              <a:defRPr sz="1120">
                <a:solidFill>
                  <a:srgbClr val="17212B"/>
                </a:solidFill>
                <a:latin typeface="Arial" panose="020B0604020202020204"/>
              </a:defRPr>
            </a:pPr>
            <a:r>
              <a:t>日志批量提交：100次成功，失败0次</a:t>
            </a:r>
          </a:p>
          <a:p>
            <a:pPr>
              <a:spcAft>
                <a:spcPts val="800"/>
              </a:spcAft>
              <a:defRPr sz="1120">
                <a:solidFill>
                  <a:srgbClr val="17212B"/>
                </a:solidFill>
                <a:latin typeface="Arial" panose="020B0604020202020204"/>
              </a:defRPr>
            </a:pPr>
            <a:r>
              <a:t>批量审计：100 / 500 / 1000条，5轮均成功</a:t>
            </a:r>
          </a:p>
          <a:p>
            <a:pPr>
              <a:spcAft>
                <a:spcPts val="800"/>
              </a:spcAft>
              <a:defRPr sz="1120">
                <a:solidFill>
                  <a:srgbClr val="17212B"/>
                </a:solidFill>
                <a:latin typeface="Arial" panose="020B0604020202020204"/>
              </a:defRPr>
            </a:pPr>
            <a:r>
              <a:t>平均审计耗时：3067.77 / 15659.44 / 35032.13 ms</a:t>
            </a:r>
          </a:p>
          <a:p>
            <a:pPr>
              <a:spcAft>
                <a:spcPts val="800"/>
              </a:spcAft>
              <a:defRPr sz="1120">
                <a:solidFill>
                  <a:srgbClr val="17212B"/>
                </a:solidFill>
                <a:latin typeface="Arial" panose="020B0604020202020204"/>
              </a:defRPr>
            </a:pPr>
            <a:r>
              <a:t>篡改检测：auditStatus = failed</a:t>
            </a:r>
          </a:p>
          <a:p>
            <a:pPr>
              <a:spcAft>
                <a:spcPts val="800"/>
              </a:spcAft>
              <a:defRPr sz="1120">
                <a:solidFill>
                  <a:srgbClr val="17212B"/>
                </a:solidFill>
                <a:latin typeface="Arial" panose="020B0604020202020204"/>
              </a:defRPr>
            </a:pPr>
            <a:r>
              <a:t>告警结果：alertGenerated = true，类型为 hash_mismatch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79008" y="2139696"/>
            <a:ext cx="5468112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-5-3-batch-audit-time-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2418016"/>
            <a:ext cx="4992624" cy="280835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016752" y="2395728"/>
            <a:ext cx="4992624" cy="2852928"/>
          </a:xfrm>
          <a:prstGeom prst="rect">
            <a:avLst/>
          </a:prstGeom>
          <a:noFill/>
          <a:ln w="10160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总结与展望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完成可信任务日志审计原型，后续面向真实环境继续优化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08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58368" y="1207008"/>
            <a:ext cx="3246120" cy="4443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822959" y="1444752"/>
            <a:ext cx="2907792" cy="512064"/>
          </a:xfrm>
          <a:prstGeom prst="roundRect">
            <a:avLst/>
          </a:prstGeom>
          <a:solidFill>
            <a:srgbClr val="EAF7F3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005840" y="1609344"/>
            <a:ext cx="242316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20" b="1">
                <a:solidFill>
                  <a:srgbClr val="167C80"/>
                </a:solidFill>
                <a:latin typeface="Arial" panose="020B0604020202020204"/>
              </a:rPr>
              <a:t>创新点</a:t>
            </a:r>
            <a:endParaRPr sz="122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969264" y="2231136"/>
            <a:ext cx="2670048" cy="2468880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链下日志原文 + 链上哈希摘要的轻量存证模型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expectedHash / actualHash / onChainHash 三方比对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历史合约地址回溯与合约代码存在性校验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采集、存证、审计、告警、展示完整闭环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70831" y="1207008"/>
            <a:ext cx="3246120" cy="4443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535423" y="1444752"/>
            <a:ext cx="2907792" cy="512064"/>
          </a:xfrm>
          <a:prstGeom prst="roundRect">
            <a:avLst/>
          </a:prstGeom>
          <a:solidFill>
            <a:srgbClr val="FFF1E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718303" y="1609344"/>
            <a:ext cx="242316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20" b="1">
                <a:solidFill>
                  <a:srgbClr val="E76F51"/>
                </a:solidFill>
                <a:latin typeface="Arial" panose="020B0604020202020204"/>
              </a:rPr>
              <a:t>存在不足</a:t>
            </a:r>
            <a:endParaRPr sz="122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681727" y="2231136"/>
            <a:ext cx="2670048" cy="2468880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主要基于本地 Hardhat 链，未验证真实链部署成本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SQLite 更适合原型系统，高并发能力有限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批量审计以顺序处理为主，大规模场景仍需优化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当前重点检测内容篡改，未深入分析日志语义风险</a:t>
            </a: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83296" y="1207008"/>
            <a:ext cx="3246120" cy="4443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247888" y="1444752"/>
            <a:ext cx="2907792" cy="51206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430768" y="1609344"/>
            <a:ext cx="242316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20" b="1">
                <a:solidFill>
                  <a:srgbClr val="2D6CDF"/>
                </a:solidFill>
                <a:latin typeface="Arial" panose="020B0604020202020204"/>
              </a:rPr>
              <a:t>后续优化</a:t>
            </a:r>
            <a:endParaRPr sz="122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94192" y="2231136"/>
            <a:ext cx="2670048" cy="2468880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接入联盟链或公开测试网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引入异步审计队列、并发链上查询和索引优化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完善多角色权限体系和告警处理流程</a:t>
            </a:r>
          </a:p>
          <a:p>
            <a:pPr>
              <a:spcAft>
                <a:spcPts val="900"/>
              </a:spcAft>
              <a:defRPr sz="1050">
                <a:solidFill>
                  <a:srgbClr val="17212B"/>
                </a:solidFill>
                <a:latin typeface="Arial" panose="020B0604020202020204"/>
              </a:defRPr>
            </a:pPr>
            <a:r>
              <a:t>结合语义分析与风险分级增强异常识别能力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88736"/>
            <a:ext cx="10607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30" b="1">
                <a:solidFill>
                  <a:srgbClr val="12355B"/>
                </a:solidFill>
                <a:latin typeface="Arial" panose="020B0604020202020204"/>
              </a:rPr>
              <a:t>结论：系统验证了链上链下混合存储、三方哈希比对和异常告警机制的可行性。</a:t>
            </a:r>
            <a:endParaRPr sz="1230" b="1">
              <a:solidFill>
                <a:srgbClr val="12355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1323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55B"/>
                </a:solidFill>
                <a:latin typeface="Arial" panose="020B0604020202020204"/>
              </a:rPr>
              <a:t>备用答辩问题准备</a:t>
            </a:r>
            <a:endParaRPr sz="230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6766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rial" panose="020B0604020202020204"/>
              </a:rPr>
              <a:t>可放在最后，不主动讲，老师提问时快速切换</a:t>
            </a:r>
            <a:endParaRPr sz="85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24128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2918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E6C7A"/>
                </a:solidFill>
                <a:latin typeface="Arial" panose="020B0604020202020204"/>
              </a:rPr>
              <a:t>09</a:t>
            </a:r>
            <a:endParaRPr sz="900" b="0">
              <a:solidFill>
                <a:srgbClr val="5E6C7A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8A97A6"/>
                </a:solidFill>
                <a:latin typeface="Arial" panose="020B0604020202020204"/>
              </a:rPr>
              <a:t>基于区块链的可信任务日志审计系统</a:t>
            </a:r>
            <a:endParaRPr sz="750" b="0">
              <a:solidFill>
                <a:srgbClr val="8A97A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64240" cy="914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225296"/>
            <a:ext cx="10497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371600"/>
            <a:ext cx="2057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D6CDF"/>
                </a:solidFill>
                <a:latin typeface="Arial" panose="020B0604020202020204"/>
              </a:rPr>
              <a:t>为什么要用区块链？</a:t>
            </a:r>
            <a:endParaRPr sz="1150" b="1">
              <a:solidFill>
                <a:srgbClr val="2D6CD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55264" y="1353312"/>
            <a:ext cx="74980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7212B"/>
                </a:solidFill>
                <a:latin typeface="Arial" panose="020B0604020202020204"/>
              </a:rPr>
              <a:t>普通数据库便于查询，但不能提供独立可信的审计依据；区块链在本系统中作为哈希证据源。</a:t>
            </a:r>
            <a:endParaRPr sz="103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" y="2176272"/>
            <a:ext cx="10497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322576"/>
            <a:ext cx="2057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67C80"/>
                </a:solidFill>
                <a:latin typeface="Arial" panose="020B0604020202020204"/>
              </a:rPr>
              <a:t>为什么不直接上链原文？</a:t>
            </a:r>
            <a:endParaRPr sz="1150" b="1">
              <a:solidFill>
                <a:srgbClr val="167C80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55264" y="2304288"/>
            <a:ext cx="74980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7212B"/>
                </a:solidFill>
                <a:latin typeface="Arial" panose="020B0604020202020204"/>
              </a:rPr>
              <a:t>日志原文体积大，可能包含路径、错误信息等敏感内容；上链哈希兼顾成本、隐私和可验证性。</a:t>
            </a:r>
            <a:endParaRPr sz="103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" y="3127248"/>
            <a:ext cx="10497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273552"/>
            <a:ext cx="2057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76F51"/>
                </a:solidFill>
                <a:latin typeface="Arial" panose="020B0604020202020204"/>
              </a:rPr>
              <a:t>如何判断日志被篡改？</a:t>
            </a:r>
            <a:endParaRPr sz="115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55264" y="3255264"/>
            <a:ext cx="74980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7212B"/>
                </a:solidFill>
                <a:latin typeface="Arial" panose="020B0604020202020204"/>
              </a:rPr>
              <a:t>审计阶段重新计算 actualHash，并与 expectedHash 和 onChainHash 做三方比对。</a:t>
            </a:r>
            <a:endParaRPr sz="103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6384" y="4078224"/>
            <a:ext cx="10497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4224528"/>
            <a:ext cx="2057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9413E"/>
                </a:solidFill>
                <a:latin typeface="Arial" panose="020B0604020202020204"/>
              </a:rPr>
              <a:t>pending 是什么情况？</a:t>
            </a:r>
            <a:endParaRPr sz="1150" b="1">
              <a:solidFill>
                <a:srgbClr val="C9413E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55264" y="4206240"/>
            <a:ext cx="74980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7212B"/>
                </a:solidFill>
                <a:latin typeface="Arial" panose="020B0604020202020204"/>
              </a:rPr>
              <a:t>链上记录缺失、合约不可用或环境变化时，系统不直接判定通过，而是保留待审计状态。</a:t>
            </a:r>
            <a:endParaRPr sz="1030" b="0">
              <a:solidFill>
                <a:srgbClr val="17212B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6384" y="5029200"/>
            <a:ext cx="10497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5175504"/>
            <a:ext cx="2057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355B"/>
                </a:solidFill>
                <a:latin typeface="Arial" panose="020B0604020202020204"/>
              </a:rPr>
              <a:t>当前最大不足是什么？</a:t>
            </a:r>
            <a:endParaRPr sz="1150" b="1">
              <a:solidFill>
                <a:srgbClr val="12355B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55264" y="5157216"/>
            <a:ext cx="74980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7212B"/>
                </a:solidFill>
                <a:latin typeface="Arial" panose="020B0604020202020204"/>
              </a:rPr>
              <a:t>本地链和 SQLite 更适合原型验证，真实部署还需要链环境、数据库和审计性能优化。</a:t>
            </a:r>
            <a:endParaRPr sz="1030" b="0">
              <a:solidFill>
                <a:srgbClr val="17212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2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3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4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5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6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7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8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9.xml><?xml version="1.0" encoding="utf-8"?>
<p:tagLst xmlns:p="http://schemas.openxmlformats.org/presentationml/2006/main">
  <p:tag name="KSO_WM_DIAGRAM_VIRTUALLY_FRAME" val="{&quot;height&quot;:221.76,&quot;left&quot;:51.839999999999996,&quot;top&quot;:200.16,&quot;width&quot;:392.4}"/>
</p:tagLst>
</file>

<file path=ppt/tags/tag10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1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2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3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4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5.xml><?xml version="1.0" encoding="utf-8"?>
<p:tagLst xmlns:p="http://schemas.openxmlformats.org/presentationml/2006/main">
  <p:tag name="KSO_WM_DIAGRAM_VIRTUALLY_FRAME" val="{&quot;height&quot;:149.76000000000002,&quot;left&quot;:59.04,&quot;top&quot;:169.92000000000002,&quot;width&quot;:324}"/>
</p:tagLst>
</file>

<file path=ppt/tags/tag16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17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18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19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0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1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2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3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4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5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6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ags/tag27.xml><?xml version="1.0" encoding="utf-8"?>
<p:tagLst xmlns:p="http://schemas.openxmlformats.org/presentationml/2006/main">
  <p:tag name="KSO_WM_DIAGRAM_VIRTUALLY_FRAME" val="{&quot;height&quot;:349.91999999999996,&quot;left&quot;:51.839999999999996,&quot;top&quot;:95.03999999999999,&quot;width&quot;:840.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WPS 演示</Application>
  <PresentationFormat>On-screen Show (4:3)</PresentationFormat>
  <Paragraphs>241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Custom丶xueersi</cp:lastModifiedBy>
  <cp:revision>2</cp:revision>
  <dcterms:created xsi:type="dcterms:W3CDTF">2013-01-27T09:14:00Z</dcterms:created>
  <dcterms:modified xsi:type="dcterms:W3CDTF">2026-05-14T07:21:30Z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B19C268AAAFB4D7E93959330D7DC089A_12</vt:lpwstr>
  </property>
  <property fmtid="{D5CDD505-2E9C-101B-9397-08002B2CF9AE}" pid="3" name="KSOProductBuildVer">
    <vt:lpwstr>2052-12.1.0.22529</vt:lpwstr>
  </property>
</Properties>
</file>